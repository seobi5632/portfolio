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57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E06642-A93B-4E32-9E7D-A17C027015C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869C7F2-D50A-4F70-AEB2-54D9C8DC7C28}">
      <dgm:prSet phldrT="[텍스트]"/>
      <dgm:spPr/>
      <dgm:t>
        <a:bodyPr/>
        <a:lstStyle/>
        <a:p>
          <a:pPr latinLnBrk="1"/>
          <a:r>
            <a:rPr lang="ko-KR" altLang="en-US" dirty="0"/>
            <a:t>데이터 무결성 검증</a:t>
          </a:r>
        </a:p>
      </dgm:t>
    </dgm:pt>
    <dgm:pt modelId="{BD958484-79F6-4347-8A24-F0ED9E045A66}" type="parTrans" cxnId="{1C98C331-C926-48E7-9784-99156338592F}">
      <dgm:prSet/>
      <dgm:spPr/>
      <dgm:t>
        <a:bodyPr/>
        <a:lstStyle/>
        <a:p>
          <a:pPr latinLnBrk="1"/>
          <a:endParaRPr lang="ko-KR" altLang="en-US"/>
        </a:p>
      </dgm:t>
    </dgm:pt>
    <dgm:pt modelId="{574A4A2D-60FB-4F4B-AE6A-FC61065864D5}" type="sibTrans" cxnId="{1C98C331-C926-48E7-9784-99156338592F}">
      <dgm:prSet/>
      <dgm:spPr/>
      <dgm:t>
        <a:bodyPr/>
        <a:lstStyle/>
        <a:p>
          <a:pPr latinLnBrk="1"/>
          <a:endParaRPr lang="ko-KR" altLang="en-US"/>
        </a:p>
      </dgm:t>
    </dgm:pt>
    <dgm:pt modelId="{4EBF2DDD-DE47-4F9C-8940-2F9703B02268}">
      <dgm:prSet phldrT="[텍스트]" custT="1"/>
      <dgm:spPr/>
      <dgm:t>
        <a:bodyPr/>
        <a:lstStyle/>
        <a:p>
          <a:pPr latinLnBrk="1"/>
          <a:r>
            <a:rPr lang="en-US" altLang="ko-KR" sz="1200" b="1"/>
            <a:t>Excel </a:t>
          </a:r>
          <a:r>
            <a:rPr lang="ko-KR" altLang="en-US" sz="1200" b="1"/>
            <a:t>검증 자동화</a:t>
          </a:r>
          <a:r>
            <a:rPr lang="en-US" altLang="ko-KR" sz="1200"/>
            <a:t>: XLOOKUP, LET </a:t>
          </a:r>
          <a:r>
            <a:rPr lang="ko-KR" altLang="en-US" sz="1200"/>
            <a:t>등 고급 수식 및 필터링을 활용해 수작업 검수를 자동화하여 정확도 향상</a:t>
          </a:r>
          <a:endParaRPr lang="ko-KR" altLang="en-US" sz="1200" dirty="0"/>
        </a:p>
      </dgm:t>
    </dgm:pt>
    <dgm:pt modelId="{3A2D9AC1-5050-4696-B08B-CE6611CA95A2}" type="parTrans" cxnId="{EEAADC38-74A8-4C0D-8488-80012E26F735}">
      <dgm:prSet/>
      <dgm:spPr/>
      <dgm:t>
        <a:bodyPr/>
        <a:lstStyle/>
        <a:p>
          <a:pPr latinLnBrk="1"/>
          <a:endParaRPr lang="ko-KR" altLang="en-US"/>
        </a:p>
      </dgm:t>
    </dgm:pt>
    <dgm:pt modelId="{E0416C2C-D8E5-4DE9-9F79-C2CD805ECB60}" type="sibTrans" cxnId="{EEAADC38-74A8-4C0D-8488-80012E26F735}">
      <dgm:prSet/>
      <dgm:spPr/>
      <dgm:t>
        <a:bodyPr/>
        <a:lstStyle/>
        <a:p>
          <a:pPr latinLnBrk="1"/>
          <a:endParaRPr lang="ko-KR" altLang="en-US"/>
        </a:p>
      </dgm:t>
    </dgm:pt>
    <dgm:pt modelId="{09534219-2CC7-4A1F-9D48-55004CC5A11A}">
      <dgm:prSet phldrT="[텍스트]"/>
      <dgm:spPr/>
      <dgm:t>
        <a:bodyPr/>
        <a:lstStyle/>
        <a:p>
          <a:pPr algn="ctr" latinLnBrk="1"/>
          <a:r>
            <a:rPr lang="ko-KR" altLang="en-US" dirty="0"/>
            <a:t>시스템 정밀 분석</a:t>
          </a:r>
        </a:p>
      </dgm:t>
    </dgm:pt>
    <dgm:pt modelId="{A56FECEA-0745-486C-8515-CB83870B5C70}" type="parTrans" cxnId="{F0F271C3-201E-4CDA-B37F-B685C8CA8745}">
      <dgm:prSet/>
      <dgm:spPr/>
      <dgm:t>
        <a:bodyPr/>
        <a:lstStyle/>
        <a:p>
          <a:pPr latinLnBrk="1"/>
          <a:endParaRPr lang="ko-KR" altLang="en-US"/>
        </a:p>
      </dgm:t>
    </dgm:pt>
    <dgm:pt modelId="{7628FEEA-72D5-4942-BB06-649BD516F4B1}" type="sibTrans" cxnId="{F0F271C3-201E-4CDA-B37F-B685C8CA8745}">
      <dgm:prSet/>
      <dgm:spPr/>
      <dgm:t>
        <a:bodyPr/>
        <a:lstStyle/>
        <a:p>
          <a:pPr latinLnBrk="1"/>
          <a:endParaRPr lang="ko-KR" altLang="en-US"/>
        </a:p>
      </dgm:t>
    </dgm:pt>
    <dgm:pt modelId="{711075DD-9588-4282-9DAC-05CD04857059}">
      <dgm:prSet phldrT="[텍스트]" custT="1"/>
      <dgm:spPr/>
      <dgm:t>
        <a:bodyPr/>
        <a:lstStyle/>
        <a:p>
          <a:pPr latinLnBrk="1"/>
          <a:r>
            <a:rPr lang="ko-KR" altLang="en-US" sz="1200" b="1" dirty="0"/>
            <a:t>복합 로직 </a:t>
          </a:r>
          <a:r>
            <a:rPr lang="en-US" altLang="ko-KR" sz="1200" b="1" dirty="0"/>
            <a:t>TC </a:t>
          </a:r>
          <a:r>
            <a:rPr lang="ko-KR" altLang="en-US" sz="1200" b="1" dirty="0"/>
            <a:t>설계</a:t>
          </a:r>
          <a:r>
            <a:rPr lang="en-US" altLang="ko-KR" sz="1200" dirty="0"/>
            <a:t>: PVP </a:t>
          </a:r>
          <a:r>
            <a:rPr lang="ko-KR" altLang="en-US" sz="1200" dirty="0"/>
            <a:t>및 성장 시스템 등 시스템 간 상호작용 로직을 분석하여 논리적 예외 케이스 도출</a:t>
          </a:r>
        </a:p>
      </dgm:t>
    </dgm:pt>
    <dgm:pt modelId="{92292DF0-7B8D-4815-82E9-1D245488416D}" type="parTrans" cxnId="{B57B7CE1-B2DA-46E4-BD8B-C600D99B2B40}">
      <dgm:prSet/>
      <dgm:spPr/>
      <dgm:t>
        <a:bodyPr/>
        <a:lstStyle/>
        <a:p>
          <a:pPr latinLnBrk="1"/>
          <a:endParaRPr lang="ko-KR" altLang="en-US"/>
        </a:p>
      </dgm:t>
    </dgm:pt>
    <dgm:pt modelId="{8FA5517A-A0D8-4722-8848-902DF434516F}" type="sibTrans" cxnId="{B57B7CE1-B2DA-46E4-BD8B-C600D99B2B40}">
      <dgm:prSet/>
      <dgm:spPr/>
      <dgm:t>
        <a:bodyPr/>
        <a:lstStyle/>
        <a:p>
          <a:pPr latinLnBrk="1"/>
          <a:endParaRPr lang="ko-KR" altLang="en-US"/>
        </a:p>
      </dgm:t>
    </dgm:pt>
    <dgm:pt modelId="{9E45EEC0-0780-4AAC-91C6-99B71A52A93A}">
      <dgm:prSet phldrT="[텍스트]" custT="1"/>
      <dgm:spPr/>
      <dgm:t>
        <a:bodyPr/>
        <a:lstStyle/>
        <a:p>
          <a:pPr latinLnBrk="1"/>
          <a:r>
            <a:rPr lang="ko-KR" altLang="en-US" sz="1200" b="1" dirty="0" err="1"/>
            <a:t>엣지</a:t>
          </a:r>
          <a:r>
            <a:rPr lang="ko-KR" altLang="en-US" sz="1200" b="1" dirty="0"/>
            <a:t> 케이스 집중 점검</a:t>
          </a:r>
          <a:r>
            <a:rPr lang="en-US" altLang="ko-KR" sz="1200" dirty="0"/>
            <a:t>: </a:t>
          </a:r>
          <a:r>
            <a:rPr lang="ko-KR" altLang="en-US" sz="1200" dirty="0"/>
            <a:t>강제 종료</a:t>
          </a:r>
          <a:r>
            <a:rPr lang="en-US" altLang="ko-KR" sz="1200" dirty="0"/>
            <a:t>, </a:t>
          </a:r>
          <a:r>
            <a:rPr lang="ko-KR" altLang="en-US" sz="1200" dirty="0"/>
            <a:t>네트워크 단절 등 유저 이탈과 직결되는 핵심 동선의 리스크 선제 차단 </a:t>
          </a:r>
        </a:p>
      </dgm:t>
    </dgm:pt>
    <dgm:pt modelId="{DB08E275-28D5-4F16-8C46-F6C4A4B3D0C3}" type="parTrans" cxnId="{DF4D1C73-E64C-4529-8094-9834D9F16BD1}">
      <dgm:prSet/>
      <dgm:spPr/>
      <dgm:t>
        <a:bodyPr/>
        <a:lstStyle/>
        <a:p>
          <a:pPr latinLnBrk="1"/>
          <a:endParaRPr lang="ko-KR" altLang="en-US"/>
        </a:p>
      </dgm:t>
    </dgm:pt>
    <dgm:pt modelId="{B7C32383-3056-4556-8FA5-C1810D357D90}" type="sibTrans" cxnId="{DF4D1C73-E64C-4529-8094-9834D9F16BD1}">
      <dgm:prSet/>
      <dgm:spPr/>
      <dgm:t>
        <a:bodyPr/>
        <a:lstStyle/>
        <a:p>
          <a:pPr latinLnBrk="1"/>
          <a:endParaRPr lang="ko-KR" altLang="en-US"/>
        </a:p>
      </dgm:t>
    </dgm:pt>
    <dgm:pt modelId="{DFA53693-10E9-4EDC-BFA6-6C5538AE37C6}">
      <dgm:prSet phldrT="[텍스트]" phldr="0" custT="1"/>
      <dgm:spPr/>
      <dgm:t>
        <a:bodyPr/>
        <a:lstStyle/>
        <a:p>
          <a:pPr latinLnBrk="1"/>
          <a:r>
            <a:rPr lang="en-US" altLang="ko-KR" sz="1600" dirty="0"/>
            <a:t>QA </a:t>
          </a:r>
          <a:r>
            <a:rPr lang="ko-KR" altLang="en-US" sz="1600" dirty="0"/>
            <a:t>프로세스 리딩 </a:t>
          </a:r>
          <a:r>
            <a:rPr lang="en-US" altLang="ko-KR" sz="1600" dirty="0"/>
            <a:t>&amp; </a:t>
          </a:r>
          <a:r>
            <a:rPr lang="ko-KR" altLang="en-US" sz="1600" dirty="0"/>
            <a:t>인프라</a:t>
          </a:r>
        </a:p>
      </dgm:t>
    </dgm:pt>
    <dgm:pt modelId="{BFF09BFE-1F4D-4A14-8E1A-419C95D98004}" type="parTrans" cxnId="{2273E647-A482-4DA3-8A61-6E0F937EB897}">
      <dgm:prSet/>
      <dgm:spPr/>
      <dgm:t>
        <a:bodyPr/>
        <a:lstStyle/>
        <a:p>
          <a:pPr latinLnBrk="1"/>
          <a:endParaRPr lang="ko-KR" altLang="en-US"/>
        </a:p>
      </dgm:t>
    </dgm:pt>
    <dgm:pt modelId="{EC24143F-0B40-4BAB-8E74-E4256455CF70}" type="sibTrans" cxnId="{2273E647-A482-4DA3-8A61-6E0F937EB897}">
      <dgm:prSet/>
      <dgm:spPr/>
      <dgm:t>
        <a:bodyPr/>
        <a:lstStyle/>
        <a:p>
          <a:pPr latinLnBrk="1"/>
          <a:endParaRPr lang="ko-KR" altLang="en-US"/>
        </a:p>
      </dgm:t>
    </dgm:pt>
    <dgm:pt modelId="{C7EAEEBF-886E-4DD4-824E-FE665818D2F4}">
      <dgm:prSet phldrT="[텍스트]" custT="1"/>
      <dgm:spPr/>
      <dgm:t>
        <a:bodyPr/>
        <a:lstStyle/>
        <a:p>
          <a:pPr latinLnBrk="1"/>
          <a:r>
            <a:rPr lang="en-US" altLang="ko-KR" sz="1200" b="1" dirty="0"/>
            <a:t>SQL </a:t>
          </a:r>
          <a:r>
            <a:rPr lang="ko-KR" altLang="en-US" sz="1200" b="1" dirty="0"/>
            <a:t>정합성 검토</a:t>
          </a:r>
          <a:r>
            <a:rPr lang="en-US" altLang="ko-KR" sz="1200" dirty="0"/>
            <a:t>: </a:t>
          </a:r>
          <a:r>
            <a:rPr lang="ko-KR" altLang="en-US" sz="1200" dirty="0"/>
            <a:t>실제 </a:t>
          </a:r>
          <a:r>
            <a:rPr lang="en-US" altLang="ko-KR" sz="1200" dirty="0"/>
            <a:t>DB </a:t>
          </a:r>
          <a:r>
            <a:rPr lang="ko-KR" altLang="en-US" sz="1200" dirty="0"/>
            <a:t>테이블과 기획서 간의 </a:t>
          </a:r>
          <a:r>
            <a:rPr lang="en-US" altLang="ko-KR" sz="1200" dirty="0"/>
            <a:t>1:1 </a:t>
          </a:r>
          <a:r>
            <a:rPr lang="ko-KR" altLang="en-US" sz="1200" dirty="0"/>
            <a:t>매칭 검증으로 라이브 데이터 이슈 </a:t>
          </a:r>
          <a:r>
            <a:rPr lang="en-US" altLang="ko-KR" sz="1200" b="1" dirty="0"/>
            <a:t>80% </a:t>
          </a:r>
          <a:r>
            <a:rPr lang="ko-KR" altLang="en-US" sz="1200" b="1" dirty="0"/>
            <a:t>이상 감소 </a:t>
          </a:r>
        </a:p>
      </dgm:t>
    </dgm:pt>
    <dgm:pt modelId="{D4D77EC6-6CFA-4DC6-8D40-5DDBA9A42A9E}" type="parTrans" cxnId="{359C37C9-9FD1-4482-98B6-871FB3647246}">
      <dgm:prSet/>
      <dgm:spPr/>
      <dgm:t>
        <a:bodyPr/>
        <a:lstStyle/>
        <a:p>
          <a:pPr latinLnBrk="1"/>
          <a:endParaRPr lang="ko-KR" altLang="en-US"/>
        </a:p>
      </dgm:t>
    </dgm:pt>
    <dgm:pt modelId="{D31B923E-18FD-42E7-9BBC-F0B7AE168A64}" type="sibTrans" cxnId="{359C37C9-9FD1-4482-98B6-871FB3647246}">
      <dgm:prSet/>
      <dgm:spPr/>
      <dgm:t>
        <a:bodyPr/>
        <a:lstStyle/>
        <a:p>
          <a:pPr latinLnBrk="1"/>
          <a:endParaRPr lang="ko-KR" altLang="en-US"/>
        </a:p>
      </dgm:t>
    </dgm:pt>
    <dgm:pt modelId="{EC6F1314-28AA-4377-B2A5-7C54104F1F51}">
      <dgm:prSet phldrT="[텍스트]" custT="1"/>
      <dgm:spPr/>
      <dgm:t>
        <a:bodyPr/>
        <a:lstStyle/>
        <a:p>
          <a:pPr latinLnBrk="1"/>
          <a:r>
            <a:rPr lang="ko-KR" altLang="en-US" sz="1200" b="1" dirty="0"/>
            <a:t>수치 정합성 확보</a:t>
          </a:r>
          <a:r>
            <a:rPr lang="en-US" altLang="ko-KR" sz="1200" dirty="0"/>
            <a:t>: </a:t>
          </a:r>
          <a:r>
            <a:rPr lang="en-US" altLang="ko-KR" sz="1200" b="1" dirty="0"/>
            <a:t>342</a:t>
          </a:r>
          <a:r>
            <a:rPr lang="ko-KR" altLang="en-US" sz="1200" b="1" dirty="0"/>
            <a:t>건</a:t>
          </a:r>
          <a:r>
            <a:rPr lang="ko-KR" altLang="en-US" sz="1200" dirty="0"/>
            <a:t>의 방대한 레벨별 강화</a:t>
          </a:r>
          <a:r>
            <a:rPr lang="en-US" altLang="ko-KR" sz="1200" dirty="0"/>
            <a:t>/</a:t>
          </a:r>
          <a:r>
            <a:rPr lang="ko-KR" altLang="en-US" sz="1200" dirty="0"/>
            <a:t>버프 수치 데이터 대조를 통해 밸런스 오류 사전 차단 </a:t>
          </a:r>
        </a:p>
      </dgm:t>
    </dgm:pt>
    <dgm:pt modelId="{5ADBB915-29B1-4D7E-A596-A49F4C323BD5}" type="parTrans" cxnId="{83881AC6-9338-4403-B3B2-1E4DE61871E7}">
      <dgm:prSet/>
      <dgm:spPr/>
      <dgm:t>
        <a:bodyPr/>
        <a:lstStyle/>
        <a:p>
          <a:pPr latinLnBrk="1"/>
          <a:endParaRPr lang="ko-KR" altLang="en-US"/>
        </a:p>
      </dgm:t>
    </dgm:pt>
    <dgm:pt modelId="{D6C1EF10-F1D0-4946-A150-31DF4D48A2AF}" type="sibTrans" cxnId="{83881AC6-9338-4403-B3B2-1E4DE61871E7}">
      <dgm:prSet/>
      <dgm:spPr/>
      <dgm:t>
        <a:bodyPr/>
        <a:lstStyle/>
        <a:p>
          <a:pPr latinLnBrk="1"/>
          <a:endParaRPr lang="ko-KR" altLang="en-US"/>
        </a:p>
      </dgm:t>
    </dgm:pt>
    <dgm:pt modelId="{BA185FCD-049B-4D36-BC3A-A51E6E869751}">
      <dgm:prSet phldrT="[텍스트]" custT="1"/>
      <dgm:spPr/>
      <dgm:t>
        <a:bodyPr/>
        <a:lstStyle/>
        <a:p>
          <a:pPr latinLnBrk="1"/>
          <a:r>
            <a:rPr lang="ko-KR" altLang="en-US" sz="1200" b="1" dirty="0"/>
            <a:t>참조 데이터 전수 검사</a:t>
          </a:r>
          <a:r>
            <a:rPr lang="en-US" altLang="ko-KR" sz="1200" dirty="0"/>
            <a:t>: </a:t>
          </a:r>
          <a:r>
            <a:rPr lang="ko-KR" altLang="en-US" sz="1200" dirty="0"/>
            <a:t>상품</a:t>
          </a:r>
          <a:r>
            <a:rPr lang="en-US" altLang="ko-KR" sz="1200" dirty="0"/>
            <a:t>ID - </a:t>
          </a:r>
          <a:r>
            <a:rPr lang="ko-KR" altLang="en-US" sz="1200" dirty="0"/>
            <a:t>보상</a:t>
          </a:r>
          <a:r>
            <a:rPr lang="en-US" altLang="ko-KR" sz="1200" dirty="0"/>
            <a:t>ID - </a:t>
          </a:r>
          <a:r>
            <a:rPr lang="ko-KR" altLang="en-US" sz="1200" dirty="0"/>
            <a:t>아이템</a:t>
          </a:r>
          <a:r>
            <a:rPr lang="en-US" altLang="ko-KR" sz="1200" dirty="0"/>
            <a:t>ID</a:t>
          </a:r>
          <a:r>
            <a:rPr lang="ko-KR" altLang="en-US" sz="1200" dirty="0"/>
            <a:t>로 이어지는 복합 참조 관계를 분석하여 무결성 확보 </a:t>
          </a:r>
        </a:p>
      </dgm:t>
    </dgm:pt>
    <dgm:pt modelId="{2CB8684F-B345-4E51-AA58-4B5A497001DE}" type="parTrans" cxnId="{D1B25B26-7978-4AF8-A0BE-667A2AB58A71}">
      <dgm:prSet/>
      <dgm:spPr/>
      <dgm:t>
        <a:bodyPr/>
        <a:lstStyle/>
        <a:p>
          <a:pPr latinLnBrk="1"/>
          <a:endParaRPr lang="ko-KR" altLang="en-US"/>
        </a:p>
      </dgm:t>
    </dgm:pt>
    <dgm:pt modelId="{FF5C45A9-559D-4D0E-8CFC-4A46F4B93396}" type="sibTrans" cxnId="{D1B25B26-7978-4AF8-A0BE-667A2AB58A71}">
      <dgm:prSet/>
      <dgm:spPr/>
      <dgm:t>
        <a:bodyPr/>
        <a:lstStyle/>
        <a:p>
          <a:pPr latinLnBrk="1"/>
          <a:endParaRPr lang="ko-KR" altLang="en-US"/>
        </a:p>
      </dgm:t>
    </dgm:pt>
    <dgm:pt modelId="{AB339C00-DDEB-439E-992D-861A841C1143}">
      <dgm:prSet phldrT="[텍스트]" phldr="0" custT="1"/>
      <dgm:spPr/>
      <dgm:t>
        <a:bodyPr/>
        <a:lstStyle/>
        <a:p>
          <a:pPr latinLnBrk="1"/>
          <a:r>
            <a:rPr lang="en-US" altLang="ko-KR" sz="1200" b="1" dirty="0"/>
            <a:t>End-to-End </a:t>
          </a:r>
          <a:r>
            <a:rPr lang="ko-KR" altLang="en-US" sz="1200" b="1" dirty="0"/>
            <a:t>사이클 운영</a:t>
          </a:r>
          <a:r>
            <a:rPr lang="en-US" altLang="ko-KR" sz="1200" dirty="0"/>
            <a:t>: </a:t>
          </a:r>
          <a:r>
            <a:rPr lang="ko-KR" altLang="en-US" sz="1200" dirty="0"/>
            <a:t>업데이트 스펙 분석부터 </a:t>
          </a:r>
          <a:r>
            <a:rPr lang="ko-KR" altLang="en-US" sz="1200" dirty="0" err="1"/>
            <a:t>포스트모템까지</a:t>
          </a:r>
          <a:r>
            <a:rPr lang="ko-KR" altLang="en-US" sz="1200" dirty="0"/>
            <a:t> 이어지는 </a:t>
          </a:r>
          <a:r>
            <a:rPr lang="en-US" altLang="ko-KR" sz="1200" b="1" dirty="0"/>
            <a:t>9</a:t>
          </a:r>
          <a:r>
            <a:rPr lang="ko-KR" altLang="en-US" sz="1200" b="1" dirty="0"/>
            <a:t>단계 </a:t>
          </a:r>
          <a:r>
            <a:rPr lang="en-US" altLang="ko-KR" sz="1200" dirty="0"/>
            <a:t>QA </a:t>
          </a:r>
          <a:r>
            <a:rPr lang="ko-KR" altLang="en-US" sz="1200" dirty="0"/>
            <a:t>프로세스 정립 및 운영 </a:t>
          </a:r>
        </a:p>
      </dgm:t>
    </dgm:pt>
    <dgm:pt modelId="{519DE21D-0407-4F69-854E-E5AC8A86BBAD}" type="parTrans" cxnId="{A9534701-0443-4B66-96F4-0BD09DE9F059}">
      <dgm:prSet/>
      <dgm:spPr/>
      <dgm:t>
        <a:bodyPr/>
        <a:lstStyle/>
        <a:p>
          <a:pPr latinLnBrk="1"/>
          <a:endParaRPr lang="ko-KR" altLang="en-US"/>
        </a:p>
      </dgm:t>
    </dgm:pt>
    <dgm:pt modelId="{817E01A8-D476-42A8-81C5-961CE84E87B9}" type="sibTrans" cxnId="{A9534701-0443-4B66-96F4-0BD09DE9F059}">
      <dgm:prSet/>
      <dgm:spPr/>
      <dgm:t>
        <a:bodyPr/>
        <a:lstStyle/>
        <a:p>
          <a:pPr latinLnBrk="1"/>
          <a:endParaRPr lang="ko-KR" altLang="en-US"/>
        </a:p>
      </dgm:t>
    </dgm:pt>
    <dgm:pt modelId="{81F74317-76CF-43D6-870C-70625C5DCFEC}">
      <dgm:prSet custT="1"/>
      <dgm:spPr/>
      <dgm:t>
        <a:bodyPr/>
        <a:lstStyle/>
        <a:p>
          <a:pPr latinLnBrk="1"/>
          <a:r>
            <a:rPr lang="ko-KR" altLang="en-US" sz="1200" b="1" dirty="0"/>
            <a:t>테스트 환경 최신화</a:t>
          </a:r>
          <a:r>
            <a:rPr lang="en-US" altLang="ko-KR" sz="1200" dirty="0"/>
            <a:t>: Jenkins</a:t>
          </a:r>
          <a:r>
            <a:rPr lang="ko-KR" altLang="en-US" sz="1200" dirty="0"/>
            <a:t>를 활용한 빌드 배포 및 </a:t>
          </a:r>
          <a:r>
            <a:rPr lang="en-US" altLang="ko-KR" sz="1200" dirty="0"/>
            <a:t>DLC </a:t>
          </a:r>
          <a:r>
            <a:rPr lang="ko-KR" altLang="en-US" sz="1200" dirty="0"/>
            <a:t>데이터 적용 관리로 검수 환경의 </a:t>
          </a:r>
          <a:r>
            <a:rPr lang="ko-KR" altLang="en-US" sz="1200"/>
            <a:t>연속성 유지</a:t>
          </a:r>
          <a:endParaRPr lang="ko-KR" altLang="en-US" sz="1200" dirty="0"/>
        </a:p>
      </dgm:t>
    </dgm:pt>
    <dgm:pt modelId="{B58AA505-DE78-4460-9426-971ABA82884A}" type="parTrans" cxnId="{2B5A81E3-9CDD-4D9B-A06D-8BFD9F364F13}">
      <dgm:prSet/>
      <dgm:spPr/>
      <dgm:t>
        <a:bodyPr/>
        <a:lstStyle/>
        <a:p>
          <a:pPr latinLnBrk="1"/>
          <a:endParaRPr lang="ko-KR" altLang="en-US"/>
        </a:p>
      </dgm:t>
    </dgm:pt>
    <dgm:pt modelId="{9949C748-5890-4C64-B721-0D6BC82EB9F2}" type="sibTrans" cxnId="{2B5A81E3-9CDD-4D9B-A06D-8BFD9F364F13}">
      <dgm:prSet/>
      <dgm:spPr/>
      <dgm:t>
        <a:bodyPr/>
        <a:lstStyle/>
        <a:p>
          <a:pPr latinLnBrk="1"/>
          <a:endParaRPr lang="ko-KR" altLang="en-US"/>
        </a:p>
      </dgm:t>
    </dgm:pt>
    <dgm:pt modelId="{CBE37753-5517-4FED-9E87-B389E66823B1}">
      <dgm:prSet custT="1"/>
      <dgm:spPr/>
      <dgm:t>
        <a:bodyPr/>
        <a:lstStyle/>
        <a:p>
          <a:pPr latinLnBrk="1"/>
          <a:r>
            <a:rPr lang="ko-KR" altLang="en-US" sz="1200" b="1" dirty="0"/>
            <a:t>협업 및 관리</a:t>
          </a:r>
          <a:r>
            <a:rPr lang="en-US" altLang="ko-KR" sz="1200" dirty="0"/>
            <a:t>: Jira/Slack</a:t>
          </a:r>
          <a:r>
            <a:rPr lang="ko-KR" altLang="en-US" sz="1200" dirty="0"/>
            <a:t>을 활용한 프로젝트 일정 관리 및 외주 인력 검수 진척도 실시간 모니터링</a:t>
          </a:r>
        </a:p>
      </dgm:t>
    </dgm:pt>
    <dgm:pt modelId="{CA419981-2C23-49DD-83BC-254E452DA7E8}" type="parTrans" cxnId="{D7875A36-8373-451D-9B95-1EF59A12BB18}">
      <dgm:prSet/>
      <dgm:spPr/>
      <dgm:t>
        <a:bodyPr/>
        <a:lstStyle/>
        <a:p>
          <a:pPr latinLnBrk="1"/>
          <a:endParaRPr lang="ko-KR" altLang="en-US"/>
        </a:p>
      </dgm:t>
    </dgm:pt>
    <dgm:pt modelId="{E26A92DA-BDF4-441D-A926-84BBE1441EDD}" type="sibTrans" cxnId="{D7875A36-8373-451D-9B95-1EF59A12BB18}">
      <dgm:prSet/>
      <dgm:spPr/>
      <dgm:t>
        <a:bodyPr/>
        <a:lstStyle/>
        <a:p>
          <a:pPr latinLnBrk="1"/>
          <a:endParaRPr lang="ko-KR" altLang="en-US"/>
        </a:p>
      </dgm:t>
    </dgm:pt>
    <dgm:pt modelId="{832229F5-1EF4-4AAF-AC44-E216F4F7598F}" type="pres">
      <dgm:prSet presAssocID="{1BE06642-A93B-4E32-9E7D-A17C027015C2}" presName="Name0" presStyleCnt="0">
        <dgm:presLayoutVars>
          <dgm:dir/>
          <dgm:animLvl val="lvl"/>
          <dgm:resizeHandles val="exact"/>
        </dgm:presLayoutVars>
      </dgm:prSet>
      <dgm:spPr/>
    </dgm:pt>
    <dgm:pt modelId="{8FC17EE2-743D-4D5C-B754-60940B3EB62E}" type="pres">
      <dgm:prSet presAssocID="{0869C7F2-D50A-4F70-AEB2-54D9C8DC7C28}" presName="composite" presStyleCnt="0"/>
      <dgm:spPr/>
    </dgm:pt>
    <dgm:pt modelId="{1B078169-6175-4A62-8874-81327E5C043B}" type="pres">
      <dgm:prSet presAssocID="{0869C7F2-D50A-4F70-AEB2-54D9C8DC7C2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F5EB1C8-C02E-4F9B-82F8-70E5131E7EFE}" type="pres">
      <dgm:prSet presAssocID="{0869C7F2-D50A-4F70-AEB2-54D9C8DC7C28}" presName="desTx" presStyleLbl="alignAccFollowNode1" presStyleIdx="0" presStyleCnt="3">
        <dgm:presLayoutVars>
          <dgm:bulletEnabled val="1"/>
        </dgm:presLayoutVars>
      </dgm:prSet>
      <dgm:spPr/>
    </dgm:pt>
    <dgm:pt modelId="{B6FB7C66-C3EA-4629-829B-88ED10E5FFCB}" type="pres">
      <dgm:prSet presAssocID="{574A4A2D-60FB-4F4B-AE6A-FC61065864D5}" presName="space" presStyleCnt="0"/>
      <dgm:spPr/>
    </dgm:pt>
    <dgm:pt modelId="{0731DB7E-4A4D-4D94-A462-4FD22F673E46}" type="pres">
      <dgm:prSet presAssocID="{09534219-2CC7-4A1F-9D48-55004CC5A11A}" presName="composite" presStyleCnt="0"/>
      <dgm:spPr/>
    </dgm:pt>
    <dgm:pt modelId="{3F794949-B084-4496-9F1F-648BF361D5BB}" type="pres">
      <dgm:prSet presAssocID="{09534219-2CC7-4A1F-9D48-55004CC5A11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EAF7113-F5E0-471E-9DC0-9DBDAB1DB18E}" type="pres">
      <dgm:prSet presAssocID="{09534219-2CC7-4A1F-9D48-55004CC5A11A}" presName="desTx" presStyleLbl="alignAccFollowNode1" presStyleIdx="1" presStyleCnt="3">
        <dgm:presLayoutVars>
          <dgm:bulletEnabled val="1"/>
        </dgm:presLayoutVars>
      </dgm:prSet>
      <dgm:spPr/>
    </dgm:pt>
    <dgm:pt modelId="{3053A825-EACE-4869-B2EE-BFBF55724343}" type="pres">
      <dgm:prSet presAssocID="{7628FEEA-72D5-4942-BB06-649BD516F4B1}" presName="space" presStyleCnt="0"/>
      <dgm:spPr/>
    </dgm:pt>
    <dgm:pt modelId="{20206DE2-C4EC-4FC3-ADF9-EC4862C1AB5B}" type="pres">
      <dgm:prSet presAssocID="{DFA53693-10E9-4EDC-BFA6-6C5538AE37C6}" presName="composite" presStyleCnt="0"/>
      <dgm:spPr/>
    </dgm:pt>
    <dgm:pt modelId="{6CA89993-0839-467B-AEC3-8366D9242FB6}" type="pres">
      <dgm:prSet presAssocID="{DFA53693-10E9-4EDC-BFA6-6C5538AE37C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55D0A7E-3403-419B-BCC9-3106987B625A}" type="pres">
      <dgm:prSet presAssocID="{DFA53693-10E9-4EDC-BFA6-6C5538AE37C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9534701-0443-4B66-96F4-0BD09DE9F059}" srcId="{DFA53693-10E9-4EDC-BFA6-6C5538AE37C6}" destId="{AB339C00-DDEB-439E-992D-861A841C1143}" srcOrd="0" destOrd="0" parTransId="{519DE21D-0407-4F69-854E-E5AC8A86BBAD}" sibTransId="{817E01A8-D476-42A8-81C5-961CE84E87B9}"/>
    <dgm:cxn modelId="{D1B25B26-7978-4AF8-A0BE-667A2AB58A71}" srcId="{0869C7F2-D50A-4F70-AEB2-54D9C8DC7C28}" destId="{BA185FCD-049B-4D36-BC3A-A51E6E869751}" srcOrd="0" destOrd="0" parTransId="{2CB8684F-B345-4E51-AA58-4B5A497001DE}" sibTransId="{FF5C45A9-559D-4D0E-8CFC-4A46F4B93396}"/>
    <dgm:cxn modelId="{1C98C331-C926-48E7-9784-99156338592F}" srcId="{1BE06642-A93B-4E32-9E7D-A17C027015C2}" destId="{0869C7F2-D50A-4F70-AEB2-54D9C8DC7C28}" srcOrd="0" destOrd="0" parTransId="{BD958484-79F6-4347-8A24-F0ED9E045A66}" sibTransId="{574A4A2D-60FB-4F4B-AE6A-FC61065864D5}"/>
    <dgm:cxn modelId="{D7875A36-8373-451D-9B95-1EF59A12BB18}" srcId="{DFA53693-10E9-4EDC-BFA6-6C5538AE37C6}" destId="{CBE37753-5517-4FED-9E87-B389E66823B1}" srcOrd="2" destOrd="0" parTransId="{CA419981-2C23-49DD-83BC-254E452DA7E8}" sibTransId="{E26A92DA-BDF4-441D-A926-84BBE1441EDD}"/>
    <dgm:cxn modelId="{CFC4B536-0C7F-46CF-BC3E-1E32D855B757}" type="presOf" srcId="{9E45EEC0-0780-4AAC-91C6-99B71A52A93A}" destId="{2EAF7113-F5E0-471E-9DC0-9DBDAB1DB18E}" srcOrd="0" destOrd="1" presId="urn:microsoft.com/office/officeart/2005/8/layout/hList1"/>
    <dgm:cxn modelId="{9CC12D38-AF55-4D42-ABCA-92E1B47A6F8A}" type="presOf" srcId="{CBE37753-5517-4FED-9E87-B389E66823B1}" destId="{A55D0A7E-3403-419B-BCC9-3106987B625A}" srcOrd="0" destOrd="2" presId="urn:microsoft.com/office/officeart/2005/8/layout/hList1"/>
    <dgm:cxn modelId="{EEAADC38-74A8-4C0D-8488-80012E26F735}" srcId="{0869C7F2-D50A-4F70-AEB2-54D9C8DC7C28}" destId="{4EBF2DDD-DE47-4F9C-8940-2F9703B02268}" srcOrd="1" destOrd="0" parTransId="{3A2D9AC1-5050-4696-B08B-CE6611CA95A2}" sibTransId="{E0416C2C-D8E5-4DE9-9F79-C2CD805ECB60}"/>
    <dgm:cxn modelId="{4F62575E-6BD8-4AA1-9AC8-A32DDF5A2DE1}" type="presOf" srcId="{711075DD-9588-4282-9DAC-05CD04857059}" destId="{2EAF7113-F5E0-471E-9DC0-9DBDAB1DB18E}" srcOrd="0" destOrd="0" presId="urn:microsoft.com/office/officeart/2005/8/layout/hList1"/>
    <dgm:cxn modelId="{387CD160-F9C5-4729-A11B-9471D42CDCBC}" type="presOf" srcId="{4EBF2DDD-DE47-4F9C-8940-2F9703B02268}" destId="{4F5EB1C8-C02E-4F9B-82F8-70E5131E7EFE}" srcOrd="0" destOrd="1" presId="urn:microsoft.com/office/officeart/2005/8/layout/hList1"/>
    <dgm:cxn modelId="{2273E647-A482-4DA3-8A61-6E0F937EB897}" srcId="{1BE06642-A93B-4E32-9E7D-A17C027015C2}" destId="{DFA53693-10E9-4EDC-BFA6-6C5538AE37C6}" srcOrd="2" destOrd="0" parTransId="{BFF09BFE-1F4D-4A14-8E1A-419C95D98004}" sibTransId="{EC24143F-0B40-4BAB-8E74-E4256455CF70}"/>
    <dgm:cxn modelId="{38FEC86E-CBC9-471E-B29A-AF32A9C657FC}" type="presOf" srcId="{BA185FCD-049B-4D36-BC3A-A51E6E869751}" destId="{4F5EB1C8-C02E-4F9B-82F8-70E5131E7EFE}" srcOrd="0" destOrd="0" presId="urn:microsoft.com/office/officeart/2005/8/layout/hList1"/>
    <dgm:cxn modelId="{1B60CD51-8437-4497-A8E4-F245225098FB}" type="presOf" srcId="{C7EAEEBF-886E-4DD4-824E-FE665818D2F4}" destId="{4F5EB1C8-C02E-4F9B-82F8-70E5131E7EFE}" srcOrd="0" destOrd="2" presId="urn:microsoft.com/office/officeart/2005/8/layout/hList1"/>
    <dgm:cxn modelId="{DF4D1C73-E64C-4529-8094-9834D9F16BD1}" srcId="{09534219-2CC7-4A1F-9D48-55004CC5A11A}" destId="{9E45EEC0-0780-4AAC-91C6-99B71A52A93A}" srcOrd="1" destOrd="0" parTransId="{DB08E275-28D5-4F16-8C46-F6C4A4B3D0C3}" sibTransId="{B7C32383-3056-4556-8FA5-C1810D357D90}"/>
    <dgm:cxn modelId="{7B16EA91-18DD-49B7-BC26-E0E38CB944C6}" type="presOf" srcId="{DFA53693-10E9-4EDC-BFA6-6C5538AE37C6}" destId="{6CA89993-0839-467B-AEC3-8366D9242FB6}" srcOrd="0" destOrd="0" presId="urn:microsoft.com/office/officeart/2005/8/layout/hList1"/>
    <dgm:cxn modelId="{B3BB30AF-B964-4E43-B02E-A7567CAB9A8E}" type="presOf" srcId="{09534219-2CC7-4A1F-9D48-55004CC5A11A}" destId="{3F794949-B084-4496-9F1F-648BF361D5BB}" srcOrd="0" destOrd="0" presId="urn:microsoft.com/office/officeart/2005/8/layout/hList1"/>
    <dgm:cxn modelId="{1A7812BB-1E8D-43F7-AD95-E974E5C8C6AE}" type="presOf" srcId="{AB339C00-DDEB-439E-992D-861A841C1143}" destId="{A55D0A7E-3403-419B-BCC9-3106987B625A}" srcOrd="0" destOrd="0" presId="urn:microsoft.com/office/officeart/2005/8/layout/hList1"/>
    <dgm:cxn modelId="{F0F271C3-201E-4CDA-B37F-B685C8CA8745}" srcId="{1BE06642-A93B-4E32-9E7D-A17C027015C2}" destId="{09534219-2CC7-4A1F-9D48-55004CC5A11A}" srcOrd="1" destOrd="0" parTransId="{A56FECEA-0745-486C-8515-CB83870B5C70}" sibTransId="{7628FEEA-72D5-4942-BB06-649BD516F4B1}"/>
    <dgm:cxn modelId="{83881AC6-9338-4403-B3B2-1E4DE61871E7}" srcId="{09534219-2CC7-4A1F-9D48-55004CC5A11A}" destId="{EC6F1314-28AA-4377-B2A5-7C54104F1F51}" srcOrd="2" destOrd="0" parTransId="{5ADBB915-29B1-4D7E-A596-A49F4C323BD5}" sibTransId="{D6C1EF10-F1D0-4946-A150-31DF4D48A2AF}"/>
    <dgm:cxn modelId="{359C37C9-9FD1-4482-98B6-871FB3647246}" srcId="{0869C7F2-D50A-4F70-AEB2-54D9C8DC7C28}" destId="{C7EAEEBF-886E-4DD4-824E-FE665818D2F4}" srcOrd="2" destOrd="0" parTransId="{D4D77EC6-6CFA-4DC6-8D40-5DDBA9A42A9E}" sibTransId="{D31B923E-18FD-42E7-9BBC-F0B7AE168A64}"/>
    <dgm:cxn modelId="{B57B7CE1-B2DA-46E4-BD8B-C600D99B2B40}" srcId="{09534219-2CC7-4A1F-9D48-55004CC5A11A}" destId="{711075DD-9588-4282-9DAC-05CD04857059}" srcOrd="0" destOrd="0" parTransId="{92292DF0-7B8D-4815-82E9-1D245488416D}" sibTransId="{8FA5517A-A0D8-4722-8848-902DF434516F}"/>
    <dgm:cxn modelId="{1EBCD0E1-8F0C-4589-AC82-0DFE7A7FEB5B}" type="presOf" srcId="{1BE06642-A93B-4E32-9E7D-A17C027015C2}" destId="{832229F5-1EF4-4AAF-AC44-E216F4F7598F}" srcOrd="0" destOrd="0" presId="urn:microsoft.com/office/officeart/2005/8/layout/hList1"/>
    <dgm:cxn modelId="{2B5A81E3-9CDD-4D9B-A06D-8BFD9F364F13}" srcId="{DFA53693-10E9-4EDC-BFA6-6C5538AE37C6}" destId="{81F74317-76CF-43D6-870C-70625C5DCFEC}" srcOrd="1" destOrd="0" parTransId="{B58AA505-DE78-4460-9426-971ABA82884A}" sibTransId="{9949C748-5890-4C64-B721-0D6BC82EB9F2}"/>
    <dgm:cxn modelId="{AE15ACE8-3A16-4C68-B452-65A115C56C7B}" type="presOf" srcId="{EC6F1314-28AA-4377-B2A5-7C54104F1F51}" destId="{2EAF7113-F5E0-471E-9DC0-9DBDAB1DB18E}" srcOrd="0" destOrd="2" presId="urn:microsoft.com/office/officeart/2005/8/layout/hList1"/>
    <dgm:cxn modelId="{71C2C8EC-F5E5-4EEA-A370-DCF85E3DB336}" type="presOf" srcId="{81F74317-76CF-43D6-870C-70625C5DCFEC}" destId="{A55D0A7E-3403-419B-BCC9-3106987B625A}" srcOrd="0" destOrd="1" presId="urn:microsoft.com/office/officeart/2005/8/layout/hList1"/>
    <dgm:cxn modelId="{F31B5DEE-3F47-4227-99B1-C5C1AB877E55}" type="presOf" srcId="{0869C7F2-D50A-4F70-AEB2-54D9C8DC7C28}" destId="{1B078169-6175-4A62-8874-81327E5C043B}" srcOrd="0" destOrd="0" presId="urn:microsoft.com/office/officeart/2005/8/layout/hList1"/>
    <dgm:cxn modelId="{FFB03B38-D3F7-402E-AA6D-188AE0B90C69}" type="presParOf" srcId="{832229F5-1EF4-4AAF-AC44-E216F4F7598F}" destId="{8FC17EE2-743D-4D5C-B754-60940B3EB62E}" srcOrd="0" destOrd="0" presId="urn:microsoft.com/office/officeart/2005/8/layout/hList1"/>
    <dgm:cxn modelId="{5E9194CB-2ED7-42FA-B021-667D7C52A1B2}" type="presParOf" srcId="{8FC17EE2-743D-4D5C-B754-60940B3EB62E}" destId="{1B078169-6175-4A62-8874-81327E5C043B}" srcOrd="0" destOrd="0" presId="urn:microsoft.com/office/officeart/2005/8/layout/hList1"/>
    <dgm:cxn modelId="{35351B7A-352B-40ED-AABB-DBB34F6E30C3}" type="presParOf" srcId="{8FC17EE2-743D-4D5C-B754-60940B3EB62E}" destId="{4F5EB1C8-C02E-4F9B-82F8-70E5131E7EFE}" srcOrd="1" destOrd="0" presId="urn:microsoft.com/office/officeart/2005/8/layout/hList1"/>
    <dgm:cxn modelId="{E0D81345-3571-456C-9584-DDB96FF8151D}" type="presParOf" srcId="{832229F5-1EF4-4AAF-AC44-E216F4F7598F}" destId="{B6FB7C66-C3EA-4629-829B-88ED10E5FFCB}" srcOrd="1" destOrd="0" presId="urn:microsoft.com/office/officeart/2005/8/layout/hList1"/>
    <dgm:cxn modelId="{5B6EA06F-E9F7-4FBB-8EB5-93D89399FD68}" type="presParOf" srcId="{832229F5-1EF4-4AAF-AC44-E216F4F7598F}" destId="{0731DB7E-4A4D-4D94-A462-4FD22F673E46}" srcOrd="2" destOrd="0" presId="urn:microsoft.com/office/officeart/2005/8/layout/hList1"/>
    <dgm:cxn modelId="{201F5BE2-3ABD-4A87-8BF3-6035A2750451}" type="presParOf" srcId="{0731DB7E-4A4D-4D94-A462-4FD22F673E46}" destId="{3F794949-B084-4496-9F1F-648BF361D5BB}" srcOrd="0" destOrd="0" presId="urn:microsoft.com/office/officeart/2005/8/layout/hList1"/>
    <dgm:cxn modelId="{E22A6730-DB36-470A-AC7D-CF0338139286}" type="presParOf" srcId="{0731DB7E-4A4D-4D94-A462-4FD22F673E46}" destId="{2EAF7113-F5E0-471E-9DC0-9DBDAB1DB18E}" srcOrd="1" destOrd="0" presId="urn:microsoft.com/office/officeart/2005/8/layout/hList1"/>
    <dgm:cxn modelId="{7484142E-0385-4296-9C14-090815CF3174}" type="presParOf" srcId="{832229F5-1EF4-4AAF-AC44-E216F4F7598F}" destId="{3053A825-EACE-4869-B2EE-BFBF55724343}" srcOrd="3" destOrd="0" presId="urn:microsoft.com/office/officeart/2005/8/layout/hList1"/>
    <dgm:cxn modelId="{ADD39A00-EBCF-470D-8867-5CCB093C4797}" type="presParOf" srcId="{832229F5-1EF4-4AAF-AC44-E216F4F7598F}" destId="{20206DE2-C4EC-4FC3-ADF9-EC4862C1AB5B}" srcOrd="4" destOrd="0" presId="urn:microsoft.com/office/officeart/2005/8/layout/hList1"/>
    <dgm:cxn modelId="{408E3C31-7476-4698-A68C-55CD636427C3}" type="presParOf" srcId="{20206DE2-C4EC-4FC3-ADF9-EC4862C1AB5B}" destId="{6CA89993-0839-467B-AEC3-8366D9242FB6}" srcOrd="0" destOrd="0" presId="urn:microsoft.com/office/officeart/2005/8/layout/hList1"/>
    <dgm:cxn modelId="{E92AAC2A-96DD-4FA7-A5E2-206563C6456B}" type="presParOf" srcId="{20206DE2-C4EC-4FC3-ADF9-EC4862C1AB5B}" destId="{A55D0A7E-3403-419B-BCC9-3106987B625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078169-6175-4A62-8874-81327E5C043B}">
      <dsp:nvSpPr>
        <dsp:cNvPr id="0" name=""/>
        <dsp:cNvSpPr/>
      </dsp:nvSpPr>
      <dsp:spPr>
        <a:xfrm>
          <a:off x="2855" y="1178568"/>
          <a:ext cx="2783628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 dirty="0"/>
            <a:t>데이터 무결성 검증</a:t>
          </a:r>
        </a:p>
      </dsp:txBody>
      <dsp:txXfrm>
        <a:off x="2855" y="1178568"/>
        <a:ext cx="2783628" cy="662400"/>
      </dsp:txXfrm>
    </dsp:sp>
    <dsp:sp modelId="{4F5EB1C8-C02E-4F9B-82F8-70E5131E7EFE}">
      <dsp:nvSpPr>
        <dsp:cNvPr id="0" name=""/>
        <dsp:cNvSpPr/>
      </dsp:nvSpPr>
      <dsp:spPr>
        <a:xfrm>
          <a:off x="2855" y="1840968"/>
          <a:ext cx="2783628" cy="2399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b="1" kern="1200" dirty="0"/>
            <a:t>참조 데이터 전수 검사</a:t>
          </a:r>
          <a:r>
            <a:rPr lang="en-US" altLang="ko-KR" sz="1200" kern="1200" dirty="0"/>
            <a:t>: </a:t>
          </a:r>
          <a:r>
            <a:rPr lang="ko-KR" altLang="en-US" sz="1200" kern="1200" dirty="0"/>
            <a:t>상품</a:t>
          </a:r>
          <a:r>
            <a:rPr lang="en-US" altLang="ko-KR" sz="1200" kern="1200" dirty="0"/>
            <a:t>ID - </a:t>
          </a:r>
          <a:r>
            <a:rPr lang="ko-KR" altLang="en-US" sz="1200" kern="1200" dirty="0"/>
            <a:t>보상</a:t>
          </a:r>
          <a:r>
            <a:rPr lang="en-US" altLang="ko-KR" sz="1200" kern="1200" dirty="0"/>
            <a:t>ID - </a:t>
          </a:r>
          <a:r>
            <a:rPr lang="ko-KR" altLang="en-US" sz="1200" kern="1200" dirty="0"/>
            <a:t>아이템</a:t>
          </a:r>
          <a:r>
            <a:rPr lang="en-US" altLang="ko-KR" sz="1200" kern="1200" dirty="0"/>
            <a:t>ID</a:t>
          </a:r>
          <a:r>
            <a:rPr lang="ko-KR" altLang="en-US" sz="1200" kern="1200" dirty="0"/>
            <a:t>로 이어지는 복합 참조 관계를 분석하여 무결성 확보 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200" b="1" kern="1200"/>
            <a:t>Excel </a:t>
          </a:r>
          <a:r>
            <a:rPr lang="ko-KR" altLang="en-US" sz="1200" b="1" kern="1200"/>
            <a:t>검증 자동화</a:t>
          </a:r>
          <a:r>
            <a:rPr lang="en-US" altLang="ko-KR" sz="1200" kern="1200"/>
            <a:t>: XLOOKUP, LET </a:t>
          </a:r>
          <a:r>
            <a:rPr lang="ko-KR" altLang="en-US" sz="1200" kern="1200"/>
            <a:t>등 고급 수식 및 필터링을 활용해 수작업 검수를 자동화하여 정확도 향상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200" b="1" kern="1200" dirty="0"/>
            <a:t>SQL </a:t>
          </a:r>
          <a:r>
            <a:rPr lang="ko-KR" altLang="en-US" sz="1200" b="1" kern="1200" dirty="0"/>
            <a:t>정합성 검토</a:t>
          </a:r>
          <a:r>
            <a:rPr lang="en-US" altLang="ko-KR" sz="1200" kern="1200" dirty="0"/>
            <a:t>: </a:t>
          </a:r>
          <a:r>
            <a:rPr lang="ko-KR" altLang="en-US" sz="1200" kern="1200" dirty="0"/>
            <a:t>실제 </a:t>
          </a:r>
          <a:r>
            <a:rPr lang="en-US" altLang="ko-KR" sz="1200" kern="1200" dirty="0"/>
            <a:t>DB </a:t>
          </a:r>
          <a:r>
            <a:rPr lang="ko-KR" altLang="en-US" sz="1200" kern="1200" dirty="0"/>
            <a:t>테이블과 기획서 간의 </a:t>
          </a:r>
          <a:r>
            <a:rPr lang="en-US" altLang="ko-KR" sz="1200" kern="1200" dirty="0"/>
            <a:t>1:1 </a:t>
          </a:r>
          <a:r>
            <a:rPr lang="ko-KR" altLang="en-US" sz="1200" kern="1200" dirty="0"/>
            <a:t>매칭 검증으로 라이브 데이터 이슈 </a:t>
          </a:r>
          <a:r>
            <a:rPr lang="en-US" altLang="ko-KR" sz="1200" b="1" kern="1200" dirty="0"/>
            <a:t>80% </a:t>
          </a:r>
          <a:r>
            <a:rPr lang="ko-KR" altLang="en-US" sz="1200" b="1" kern="1200" dirty="0"/>
            <a:t>이상 감소 </a:t>
          </a:r>
        </a:p>
      </dsp:txBody>
      <dsp:txXfrm>
        <a:off x="2855" y="1840968"/>
        <a:ext cx="2783628" cy="2399129"/>
      </dsp:txXfrm>
    </dsp:sp>
    <dsp:sp modelId="{3F794949-B084-4496-9F1F-648BF361D5BB}">
      <dsp:nvSpPr>
        <dsp:cNvPr id="0" name=""/>
        <dsp:cNvSpPr/>
      </dsp:nvSpPr>
      <dsp:spPr>
        <a:xfrm>
          <a:off x="3176190" y="1178568"/>
          <a:ext cx="2783628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 dirty="0"/>
            <a:t>시스템 정밀 분석</a:t>
          </a:r>
        </a:p>
      </dsp:txBody>
      <dsp:txXfrm>
        <a:off x="3176190" y="1178568"/>
        <a:ext cx="2783628" cy="662400"/>
      </dsp:txXfrm>
    </dsp:sp>
    <dsp:sp modelId="{2EAF7113-F5E0-471E-9DC0-9DBDAB1DB18E}">
      <dsp:nvSpPr>
        <dsp:cNvPr id="0" name=""/>
        <dsp:cNvSpPr/>
      </dsp:nvSpPr>
      <dsp:spPr>
        <a:xfrm>
          <a:off x="3176190" y="1840968"/>
          <a:ext cx="2783628" cy="2399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b="1" kern="1200" dirty="0"/>
            <a:t>복합 로직 </a:t>
          </a:r>
          <a:r>
            <a:rPr lang="en-US" altLang="ko-KR" sz="1200" b="1" kern="1200" dirty="0"/>
            <a:t>TC </a:t>
          </a:r>
          <a:r>
            <a:rPr lang="ko-KR" altLang="en-US" sz="1200" b="1" kern="1200" dirty="0"/>
            <a:t>설계</a:t>
          </a:r>
          <a:r>
            <a:rPr lang="en-US" altLang="ko-KR" sz="1200" kern="1200" dirty="0"/>
            <a:t>: PVP </a:t>
          </a:r>
          <a:r>
            <a:rPr lang="ko-KR" altLang="en-US" sz="1200" kern="1200" dirty="0"/>
            <a:t>및 성장 시스템 등 시스템 간 상호작용 로직을 분석하여 논리적 예외 케이스 도출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b="1" kern="1200" dirty="0" err="1"/>
            <a:t>엣지</a:t>
          </a:r>
          <a:r>
            <a:rPr lang="ko-KR" altLang="en-US" sz="1200" b="1" kern="1200" dirty="0"/>
            <a:t> 케이스 집중 점검</a:t>
          </a:r>
          <a:r>
            <a:rPr lang="en-US" altLang="ko-KR" sz="1200" kern="1200" dirty="0"/>
            <a:t>: </a:t>
          </a:r>
          <a:r>
            <a:rPr lang="ko-KR" altLang="en-US" sz="1200" kern="1200" dirty="0"/>
            <a:t>강제 종료</a:t>
          </a:r>
          <a:r>
            <a:rPr lang="en-US" altLang="ko-KR" sz="1200" kern="1200" dirty="0"/>
            <a:t>, </a:t>
          </a:r>
          <a:r>
            <a:rPr lang="ko-KR" altLang="en-US" sz="1200" kern="1200" dirty="0"/>
            <a:t>네트워크 단절 등 유저 이탈과 직결되는 핵심 동선의 리스크 선제 차단 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b="1" kern="1200" dirty="0"/>
            <a:t>수치 정합성 확보</a:t>
          </a:r>
          <a:r>
            <a:rPr lang="en-US" altLang="ko-KR" sz="1200" kern="1200" dirty="0"/>
            <a:t>: </a:t>
          </a:r>
          <a:r>
            <a:rPr lang="en-US" altLang="ko-KR" sz="1200" b="1" kern="1200" dirty="0"/>
            <a:t>342</a:t>
          </a:r>
          <a:r>
            <a:rPr lang="ko-KR" altLang="en-US" sz="1200" b="1" kern="1200" dirty="0"/>
            <a:t>건</a:t>
          </a:r>
          <a:r>
            <a:rPr lang="ko-KR" altLang="en-US" sz="1200" kern="1200" dirty="0"/>
            <a:t>의 방대한 레벨별 강화</a:t>
          </a:r>
          <a:r>
            <a:rPr lang="en-US" altLang="ko-KR" sz="1200" kern="1200" dirty="0"/>
            <a:t>/</a:t>
          </a:r>
          <a:r>
            <a:rPr lang="ko-KR" altLang="en-US" sz="1200" kern="1200" dirty="0"/>
            <a:t>버프 수치 데이터 대조를 통해 밸런스 오류 사전 차단 </a:t>
          </a:r>
        </a:p>
      </dsp:txBody>
      <dsp:txXfrm>
        <a:off x="3176190" y="1840968"/>
        <a:ext cx="2783628" cy="2399129"/>
      </dsp:txXfrm>
    </dsp:sp>
    <dsp:sp modelId="{6CA89993-0839-467B-AEC3-8366D9242FB6}">
      <dsp:nvSpPr>
        <dsp:cNvPr id="0" name=""/>
        <dsp:cNvSpPr/>
      </dsp:nvSpPr>
      <dsp:spPr>
        <a:xfrm>
          <a:off x="6349526" y="1178568"/>
          <a:ext cx="2783628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/>
            <a:t>QA </a:t>
          </a:r>
          <a:r>
            <a:rPr lang="ko-KR" altLang="en-US" sz="1600" kern="1200" dirty="0"/>
            <a:t>프로세스 리딩 </a:t>
          </a:r>
          <a:r>
            <a:rPr lang="en-US" altLang="ko-KR" sz="1600" kern="1200" dirty="0"/>
            <a:t>&amp; </a:t>
          </a:r>
          <a:r>
            <a:rPr lang="ko-KR" altLang="en-US" sz="1600" kern="1200" dirty="0"/>
            <a:t>인프라</a:t>
          </a:r>
        </a:p>
      </dsp:txBody>
      <dsp:txXfrm>
        <a:off x="6349526" y="1178568"/>
        <a:ext cx="2783628" cy="662400"/>
      </dsp:txXfrm>
    </dsp:sp>
    <dsp:sp modelId="{A55D0A7E-3403-419B-BCC9-3106987B625A}">
      <dsp:nvSpPr>
        <dsp:cNvPr id="0" name=""/>
        <dsp:cNvSpPr/>
      </dsp:nvSpPr>
      <dsp:spPr>
        <a:xfrm>
          <a:off x="6349526" y="1840968"/>
          <a:ext cx="2783628" cy="23991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200" b="1" kern="1200" dirty="0"/>
            <a:t>End-to-End </a:t>
          </a:r>
          <a:r>
            <a:rPr lang="ko-KR" altLang="en-US" sz="1200" b="1" kern="1200" dirty="0"/>
            <a:t>사이클 운영</a:t>
          </a:r>
          <a:r>
            <a:rPr lang="en-US" altLang="ko-KR" sz="1200" kern="1200" dirty="0"/>
            <a:t>: </a:t>
          </a:r>
          <a:r>
            <a:rPr lang="ko-KR" altLang="en-US" sz="1200" kern="1200" dirty="0"/>
            <a:t>업데이트 스펙 분석부터 </a:t>
          </a:r>
          <a:r>
            <a:rPr lang="ko-KR" altLang="en-US" sz="1200" kern="1200" dirty="0" err="1"/>
            <a:t>포스트모템까지</a:t>
          </a:r>
          <a:r>
            <a:rPr lang="ko-KR" altLang="en-US" sz="1200" kern="1200" dirty="0"/>
            <a:t> 이어지는 </a:t>
          </a:r>
          <a:r>
            <a:rPr lang="en-US" altLang="ko-KR" sz="1200" b="1" kern="1200" dirty="0"/>
            <a:t>9</a:t>
          </a:r>
          <a:r>
            <a:rPr lang="ko-KR" altLang="en-US" sz="1200" b="1" kern="1200" dirty="0"/>
            <a:t>단계 </a:t>
          </a:r>
          <a:r>
            <a:rPr lang="en-US" altLang="ko-KR" sz="1200" kern="1200" dirty="0"/>
            <a:t>QA </a:t>
          </a:r>
          <a:r>
            <a:rPr lang="ko-KR" altLang="en-US" sz="1200" kern="1200" dirty="0"/>
            <a:t>프로세스 정립 및 운영 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b="1" kern="1200" dirty="0"/>
            <a:t>테스트 환경 최신화</a:t>
          </a:r>
          <a:r>
            <a:rPr lang="en-US" altLang="ko-KR" sz="1200" kern="1200" dirty="0"/>
            <a:t>: Jenkins</a:t>
          </a:r>
          <a:r>
            <a:rPr lang="ko-KR" altLang="en-US" sz="1200" kern="1200" dirty="0"/>
            <a:t>를 활용한 빌드 배포 및 </a:t>
          </a:r>
          <a:r>
            <a:rPr lang="en-US" altLang="ko-KR" sz="1200" kern="1200" dirty="0"/>
            <a:t>DLC </a:t>
          </a:r>
          <a:r>
            <a:rPr lang="ko-KR" altLang="en-US" sz="1200" kern="1200" dirty="0"/>
            <a:t>데이터 적용 관리로 검수 환경의 </a:t>
          </a:r>
          <a:r>
            <a:rPr lang="ko-KR" altLang="en-US" sz="1200" kern="1200"/>
            <a:t>연속성 유지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b="1" kern="1200" dirty="0"/>
            <a:t>협업 및 관리</a:t>
          </a:r>
          <a:r>
            <a:rPr lang="en-US" altLang="ko-KR" sz="1200" kern="1200" dirty="0"/>
            <a:t>: Jira/Slack</a:t>
          </a:r>
          <a:r>
            <a:rPr lang="ko-KR" altLang="en-US" sz="1200" kern="1200" dirty="0"/>
            <a:t>을 활용한 프로젝트 일정 관리 및 외주 인력 검수 진척도 실시간 모니터링</a:t>
          </a:r>
        </a:p>
      </dsp:txBody>
      <dsp:txXfrm>
        <a:off x="6349526" y="1840968"/>
        <a:ext cx="2783628" cy="23991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ECCF2-1713-492E-B3EC-7218DFAB4D00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A4AD1-6FF3-48C3-A755-D8FD755D41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75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A4AD1-6FF3-48C3-A755-D8FD755D412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222AB-C8AE-6AC9-B552-5A99B27D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44C989-A159-CD17-CE45-631AB8234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FA150C-46A6-99CD-8B68-26330D26D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6C61D-1787-5D95-E458-45DC18BDE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A4AD1-6FF3-48C3-A755-D8FD755D412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090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99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72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55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86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87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20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22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22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8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95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68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8C8AA-CC54-4C27-8A6F-CEB71D1BEE8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158A1-341F-4F92-A47B-CD8412656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56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eobi5632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eobi5632/Portfolio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obi5632/Portfoli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08ED9-ADBB-E764-EEB3-F42EDC802E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PORTFOLIO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7344B1-0E07-F2D4-1DCF-29D4262F9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신장섭</a:t>
            </a:r>
            <a:endParaRPr lang="en-US" altLang="ko-KR" dirty="0"/>
          </a:p>
          <a:p>
            <a:r>
              <a:rPr lang="en-US" altLang="ko-KR" dirty="0"/>
              <a:t>010 6607 3471</a:t>
            </a:r>
          </a:p>
          <a:p>
            <a:r>
              <a:rPr lang="en-US" altLang="ko-KR" dirty="0">
                <a:hlinkClick r:id="rId3"/>
              </a:rPr>
              <a:t>seobi5632@gmail.com</a:t>
            </a:r>
            <a:endParaRPr lang="en-US" altLang="ko-KR" dirty="0"/>
          </a:p>
          <a:p>
            <a:r>
              <a:rPr lang="en-US" altLang="ko-KR" dirty="0">
                <a:hlinkClick r:id="rId4"/>
              </a:rPr>
              <a:t>https://github.com/seobi5632/Portfolio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3893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F0919-4D1E-C869-7EC3-1B4276B7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1F77E8A-1E7D-636B-2A02-E4E412C0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85824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핵심 직무 역량 </a:t>
            </a:r>
            <a:r>
              <a:rPr lang="en-US" altLang="ko-KR" sz="2400" dirty="0"/>
              <a:t>(Core Competency)</a:t>
            </a:r>
            <a:endParaRPr lang="ko-KR" altLang="en-US" sz="2400" dirty="0"/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FC785564-819C-BFF1-BA54-1DA787FC2E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2597358"/>
              </p:ext>
            </p:extLst>
          </p:nvPr>
        </p:nvGraphicFramePr>
        <p:xfrm>
          <a:off x="1527995" y="208227"/>
          <a:ext cx="913601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부제목 2">
            <a:extLst>
              <a:ext uri="{FF2B5EF4-FFF2-40B4-BE49-F238E27FC236}">
                <a16:creationId xmlns:a16="http://schemas.microsoft.com/office/drawing/2014/main" id="{143F602D-5CF7-B34F-5EEE-C51F34B8C9B9}"/>
              </a:ext>
            </a:extLst>
          </p:cNvPr>
          <p:cNvSpPr txBox="1">
            <a:spLocks/>
          </p:cNvSpPr>
          <p:nvPr/>
        </p:nvSpPr>
        <p:spPr>
          <a:xfrm>
            <a:off x="0" y="585824"/>
            <a:ext cx="7695344" cy="3388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"</a:t>
            </a:r>
            <a:r>
              <a:rPr lang="ko-KR" altLang="en-US" sz="1800" dirty="0"/>
              <a:t>데이터 무결성 검증 및 인프라 최적화를 통한 라이브 서비스 품질 표준 확립</a:t>
            </a:r>
            <a:r>
              <a:rPr lang="en-US" altLang="ko-KR" sz="1800" dirty="0"/>
              <a:t>"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2AF5FAA-3975-29A3-61F0-DB5AB2E9E3E7}"/>
              </a:ext>
            </a:extLst>
          </p:cNvPr>
          <p:cNvGrpSpPr/>
          <p:nvPr/>
        </p:nvGrpSpPr>
        <p:grpSpPr>
          <a:xfrm>
            <a:off x="2195051" y="5544579"/>
            <a:ext cx="7801897" cy="919823"/>
            <a:chOff x="1964488" y="5505969"/>
            <a:chExt cx="7801897" cy="919823"/>
          </a:xfrm>
        </p:grpSpPr>
        <p:pic>
          <p:nvPicPr>
            <p:cNvPr id="1026" name="Picture 2" descr="Jira Logo and symbol, meaning, history, PNG">
              <a:extLst>
                <a:ext uri="{FF2B5EF4-FFF2-40B4-BE49-F238E27FC236}">
                  <a16:creationId xmlns:a16="http://schemas.microsoft.com/office/drawing/2014/main" id="{D929FCBE-B57F-087B-8827-7CAA5129D4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4488" y="5621164"/>
              <a:ext cx="959789" cy="651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D0E73DF9-BABF-7C5A-A935-E56BE3B306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4277" y="5565189"/>
              <a:ext cx="1618822" cy="647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F0FE1D5F-5E86-86C5-38CC-0F4A2E4BD8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7831" y="5699383"/>
              <a:ext cx="1527487" cy="4916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22">
              <a:extLst>
                <a:ext uri="{FF2B5EF4-FFF2-40B4-BE49-F238E27FC236}">
                  <a16:creationId xmlns:a16="http://schemas.microsoft.com/office/drawing/2014/main" id="{5074C936-933A-A68C-7C02-ED44AC3EE9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6659" y="5676464"/>
              <a:ext cx="1591639" cy="578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0" name="Picture 26" descr="Download Unreal Engine Logo in SVG Vector or PNG File Format - Logo.wine">
              <a:extLst>
                <a:ext uri="{FF2B5EF4-FFF2-40B4-BE49-F238E27FC236}">
                  <a16:creationId xmlns:a16="http://schemas.microsoft.com/office/drawing/2014/main" id="{C75D4B1F-082F-CEA9-1D9E-59C116A136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6651" y="5505969"/>
              <a:ext cx="1379734" cy="9198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2" name="Picture 28">
              <a:extLst>
                <a:ext uri="{FF2B5EF4-FFF2-40B4-BE49-F238E27FC236}">
                  <a16:creationId xmlns:a16="http://schemas.microsoft.com/office/drawing/2014/main" id="{A9602BC8-125B-EF64-9AF9-C271E0123C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3791" y="5648393"/>
              <a:ext cx="1262168" cy="5890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6472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29AA-0157-78B3-0D39-BCCB82690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B12D6025-5AA7-5D4F-F2E3-98CFEE27BACC}"/>
              </a:ext>
            </a:extLst>
          </p:cNvPr>
          <p:cNvGrpSpPr/>
          <p:nvPr/>
        </p:nvGrpSpPr>
        <p:grpSpPr>
          <a:xfrm>
            <a:off x="926387" y="878440"/>
            <a:ext cx="5102351" cy="5776365"/>
            <a:chOff x="361308" y="878440"/>
            <a:chExt cx="5102351" cy="5776365"/>
          </a:xfrm>
        </p:grpSpPr>
        <p:pic>
          <p:nvPicPr>
            <p:cNvPr id="3" name="그림 2" descr="텍스트, 스크린샷, 도표, 평행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E8C2937-623D-FB72-B969-9BA399917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308" y="878440"/>
              <a:ext cx="5084936" cy="3169578"/>
            </a:xfrm>
            <a:prstGeom prst="rect">
              <a:avLst/>
            </a:prstGeom>
          </p:spPr>
        </p:pic>
        <p:pic>
          <p:nvPicPr>
            <p:cNvPr id="6" name="그림 5" descr="텍스트, 스크린샷, 소프트웨어, 디스플레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563E961-6510-DFF3-463E-5DC77564D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441" y="2992626"/>
              <a:ext cx="5093218" cy="3662179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EF12412-D595-12A3-A9E5-FB1E54F71F5B}"/>
              </a:ext>
            </a:extLst>
          </p:cNvPr>
          <p:cNvSpPr txBox="1"/>
          <p:nvPr/>
        </p:nvSpPr>
        <p:spPr>
          <a:xfrm>
            <a:off x="6318891" y="1720840"/>
            <a:ext cx="56196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/>
              <a:t>주요 수행 내용</a:t>
            </a:r>
          </a:p>
          <a:p>
            <a:r>
              <a:rPr lang="en-US" altLang="ko-KR" sz="1200" dirty="0"/>
              <a:t>BM </a:t>
            </a:r>
            <a:r>
              <a:rPr lang="ko-KR" altLang="en-US" sz="1200" dirty="0"/>
              <a:t>상품 무결성 확보</a:t>
            </a:r>
            <a:r>
              <a:rPr lang="en-US" altLang="ko-KR" sz="1200" dirty="0"/>
              <a:t>: </a:t>
            </a:r>
            <a:r>
              <a:rPr lang="ko-KR" altLang="en-US" sz="1200" dirty="0"/>
              <a:t>상품</a:t>
            </a:r>
            <a:r>
              <a:rPr lang="en-US" altLang="ko-KR" sz="1200" dirty="0"/>
              <a:t>ID - </a:t>
            </a:r>
            <a:r>
              <a:rPr lang="ko-KR" altLang="en-US" sz="1200" dirty="0"/>
              <a:t>보상</a:t>
            </a:r>
            <a:r>
              <a:rPr lang="en-US" altLang="ko-KR" sz="1200" dirty="0"/>
              <a:t>ID - </a:t>
            </a:r>
            <a:r>
              <a:rPr lang="ko-KR" altLang="en-US" sz="1200" dirty="0"/>
              <a:t>아이템</a:t>
            </a:r>
            <a:r>
              <a:rPr lang="en-US" altLang="ko-KR" sz="1200" dirty="0"/>
              <a:t>ID</a:t>
            </a:r>
            <a:r>
              <a:rPr lang="ko-KR" altLang="en-US" sz="1200" dirty="0"/>
              <a:t>로 이어지는 복합 참조 관계를 분석하고 전수 검사를 수행하여 매출 직결 항목의 오류를 차단했습니다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데이터 검수 자동화</a:t>
            </a:r>
            <a:r>
              <a:rPr lang="en-US" altLang="ko-KR" sz="1200" dirty="0"/>
              <a:t>: XLOOKUP, LET </a:t>
            </a:r>
            <a:r>
              <a:rPr lang="ko-KR" altLang="en-US" sz="1200" dirty="0"/>
              <a:t>등 </a:t>
            </a:r>
            <a:r>
              <a:rPr lang="en-US" altLang="ko-KR" sz="1200" dirty="0"/>
              <a:t>Excel </a:t>
            </a:r>
            <a:r>
              <a:rPr lang="ko-KR" altLang="en-US" sz="1200" dirty="0"/>
              <a:t>고급 수식을 활용한 검증 환경을 구축하여 기존 수작업 검수 대비 속도와 정확도를 획기적으로 향상시켰습니다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최신 테스트 환경 유지</a:t>
            </a:r>
            <a:r>
              <a:rPr lang="en-US" altLang="ko-KR" sz="1200" dirty="0"/>
              <a:t>: Jenkins</a:t>
            </a:r>
            <a:r>
              <a:rPr lang="ko-KR" altLang="en-US" sz="1200" dirty="0"/>
              <a:t>를 활용한 빌드 배포 및 </a:t>
            </a:r>
            <a:r>
              <a:rPr lang="en-US" altLang="ko-KR" sz="1200" dirty="0"/>
              <a:t>DLC(</a:t>
            </a:r>
            <a:r>
              <a:rPr lang="ko-KR" altLang="en-US" sz="1200" dirty="0"/>
              <a:t>데이터</a:t>
            </a:r>
            <a:r>
              <a:rPr lang="en-US" altLang="ko-KR" sz="1200" dirty="0"/>
              <a:t>) </a:t>
            </a:r>
            <a:r>
              <a:rPr lang="ko-KR" altLang="en-US" sz="1200" dirty="0"/>
              <a:t>적용 관리를 통해 검수 환경을 상시 </a:t>
            </a:r>
            <a:r>
              <a:rPr lang="ko-KR" altLang="en-US" sz="1200" dirty="0" err="1"/>
              <a:t>최신화했습니다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기술적 해결 사례 </a:t>
            </a:r>
            <a:endParaRPr lang="en-US" altLang="ko-KR" sz="1200" dirty="0"/>
          </a:p>
          <a:p>
            <a:r>
              <a:rPr lang="ko-KR" altLang="en-US" sz="1200" dirty="0"/>
              <a:t>문제</a:t>
            </a:r>
            <a:r>
              <a:rPr lang="en-US" altLang="ko-KR" sz="1200" dirty="0"/>
              <a:t>: </a:t>
            </a:r>
            <a:r>
              <a:rPr lang="ko-KR" altLang="en-US" sz="1200" dirty="0"/>
              <a:t>수작업 검수 시 방대한 </a:t>
            </a:r>
            <a:r>
              <a:rPr lang="ko-KR" altLang="en-US" sz="1200" dirty="0" err="1"/>
              <a:t>데이터량으로</a:t>
            </a:r>
            <a:r>
              <a:rPr lang="ko-KR" altLang="en-US" sz="1200" dirty="0"/>
              <a:t> 인해 상품 카테고리 매칭이나 판매 기간 설정 등 기입 실수 리스크 존재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해결</a:t>
            </a:r>
            <a:r>
              <a:rPr lang="en-US" altLang="ko-KR" sz="1200" dirty="0"/>
              <a:t>: </a:t>
            </a:r>
            <a:r>
              <a:rPr lang="ko-KR" altLang="en-US" sz="1200" dirty="0"/>
              <a:t>기획서와</a:t>
            </a:r>
            <a:r>
              <a:rPr lang="en-US" altLang="ko-KR" sz="1200" dirty="0"/>
              <a:t> </a:t>
            </a:r>
            <a:r>
              <a:rPr lang="ko-KR" altLang="en-US" sz="1200" dirty="0"/>
              <a:t>데이터 간 </a:t>
            </a:r>
            <a:r>
              <a:rPr lang="en-US" altLang="ko-KR" sz="1200" dirty="0"/>
              <a:t>1:1 </a:t>
            </a:r>
            <a:r>
              <a:rPr lang="ko-KR" altLang="en-US" sz="1200" dirty="0"/>
              <a:t>매칭 검증 프로세스 도입 및 자동화 수식 적용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결과</a:t>
            </a:r>
            <a:r>
              <a:rPr lang="en-US" altLang="ko-KR" sz="1200" dirty="0"/>
              <a:t>: </a:t>
            </a:r>
            <a:r>
              <a:rPr lang="ko-KR" altLang="en-US" sz="1200" dirty="0"/>
              <a:t>데이터 검수 시간 단축 및 라이브 데이터 이슈 발생률 </a:t>
            </a:r>
            <a:r>
              <a:rPr lang="en-US" altLang="ko-KR" sz="1200" dirty="0"/>
              <a:t>80% </a:t>
            </a:r>
            <a:r>
              <a:rPr lang="ko-KR" altLang="en-US" sz="1200" dirty="0"/>
              <a:t>이상 감소 성과 달성</a:t>
            </a:r>
            <a:endParaRPr lang="en-US" altLang="ko-KR" sz="1200" dirty="0"/>
          </a:p>
        </p:txBody>
      </p:sp>
      <p:sp>
        <p:nvSpPr>
          <p:cNvPr id="7" name="제목 3">
            <a:extLst>
              <a:ext uri="{FF2B5EF4-FFF2-40B4-BE49-F238E27FC236}">
                <a16:creationId xmlns:a16="http://schemas.microsoft.com/office/drawing/2014/main" id="{65BDF596-C35E-49AF-85B3-9DF4B1E63C6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585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/>
              <a:t>BM </a:t>
            </a:r>
            <a:r>
              <a:rPr lang="ko-KR" altLang="en-US" sz="2400" dirty="0"/>
              <a:t>무결성 검증 및 프로세스 개선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1FA2588-8B08-1EE0-A2B6-14061EF3E2DB}"/>
              </a:ext>
            </a:extLst>
          </p:cNvPr>
          <p:cNvSpPr txBox="1">
            <a:spLocks/>
          </p:cNvSpPr>
          <p:nvPr/>
        </p:nvSpPr>
        <p:spPr>
          <a:xfrm>
            <a:off x="0" y="585824"/>
            <a:ext cx="7695344" cy="338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"</a:t>
            </a:r>
            <a:r>
              <a:rPr lang="ko-KR" altLang="en-US" sz="1800" dirty="0"/>
              <a:t>참조 관계 분석 및 자동화 툴 도입으로 라이브 데이터 사고 </a:t>
            </a:r>
            <a:r>
              <a:rPr lang="en-US" altLang="ko-KR" sz="1800" dirty="0"/>
              <a:t>80% </a:t>
            </a:r>
            <a:r>
              <a:rPr lang="ko-KR" altLang="en-US" sz="1800" dirty="0"/>
              <a:t>이상 감소</a:t>
            </a:r>
            <a:r>
              <a:rPr lang="en-US" altLang="ko-KR" sz="18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00095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383EC-0FA5-F587-762C-5D4637F9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텍스트, 번호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774669-5F1A-D0C2-5C8D-86315C394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96" y="1049949"/>
            <a:ext cx="6275890" cy="5381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9E60F8-A1B4-634B-51C3-5AFCDC9E3EF8}"/>
              </a:ext>
            </a:extLst>
          </p:cNvPr>
          <p:cNvSpPr txBox="1"/>
          <p:nvPr/>
        </p:nvSpPr>
        <p:spPr>
          <a:xfrm>
            <a:off x="6627630" y="2182505"/>
            <a:ext cx="560712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/>
              <a:t>주요 수행 내용</a:t>
            </a:r>
          </a:p>
          <a:p>
            <a:r>
              <a:rPr lang="ko-KR" altLang="en-US" sz="1200" dirty="0"/>
              <a:t>시스템 정밀 검증</a:t>
            </a:r>
            <a:r>
              <a:rPr lang="en-US" altLang="ko-KR" sz="1200" dirty="0"/>
              <a:t>: PVP </a:t>
            </a:r>
            <a:r>
              <a:rPr lang="ko-KR" altLang="en-US" sz="1200" dirty="0"/>
              <a:t>및 캐릭터 성장 시스템의 복합 상호작용 로직을 분석하여 발생 가능한 논리적 예외 케이스를 도출하고 </a:t>
            </a:r>
            <a:r>
              <a:rPr lang="en-US" altLang="ko-KR" sz="1200" dirty="0"/>
              <a:t>TC</a:t>
            </a:r>
            <a:r>
              <a:rPr lang="ko-KR" altLang="en-US" sz="1200" dirty="0"/>
              <a:t>를 설계했습니다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 err="1"/>
              <a:t>엣지</a:t>
            </a:r>
            <a:r>
              <a:rPr lang="ko-KR" altLang="en-US" sz="1200" dirty="0"/>
              <a:t> 케이스 집중 점검</a:t>
            </a:r>
            <a:r>
              <a:rPr lang="en-US" altLang="ko-KR" sz="1200" dirty="0"/>
              <a:t>: </a:t>
            </a:r>
            <a:r>
              <a:rPr lang="ko-KR" altLang="en-US" sz="1200" dirty="0"/>
              <a:t>강제 종료</a:t>
            </a:r>
            <a:r>
              <a:rPr lang="en-US" altLang="ko-KR" sz="1200" dirty="0"/>
              <a:t>, </a:t>
            </a:r>
            <a:r>
              <a:rPr lang="ko-KR" altLang="en-US" sz="1200" dirty="0"/>
              <a:t>네트워크 단절 등 유저 이탈과 직결되는 핵심 동선의 리스크를 집중적으로 점검했습니다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수치 정합성 확보</a:t>
            </a:r>
            <a:r>
              <a:rPr lang="en-US" altLang="ko-KR" sz="1200" dirty="0"/>
              <a:t>: 342</a:t>
            </a:r>
            <a:r>
              <a:rPr lang="ko-KR" altLang="en-US" sz="1200" dirty="0"/>
              <a:t>건의 방대한 레벨별 강화 및 버프 수치 데이터를 전수 검증하여 밸런스 오류를 사전에 차단했습니다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사용자 경험</a:t>
            </a:r>
            <a:r>
              <a:rPr lang="en-US" altLang="ko-KR" sz="1200" dirty="0"/>
              <a:t>(UX) </a:t>
            </a:r>
            <a:r>
              <a:rPr lang="ko-KR" altLang="en-US" sz="1200" dirty="0"/>
              <a:t>최적화 </a:t>
            </a:r>
          </a:p>
          <a:p>
            <a:r>
              <a:rPr lang="ko-KR" altLang="en-US" sz="1200" dirty="0"/>
              <a:t>편의성 검수</a:t>
            </a:r>
            <a:r>
              <a:rPr lang="en-US" altLang="ko-KR" sz="1200" dirty="0"/>
              <a:t>: </a:t>
            </a:r>
            <a:r>
              <a:rPr lang="ko-KR" altLang="en-US" sz="1200" dirty="0"/>
              <a:t>기능의 정상 동작 확인을 넘어 비속어 필터링</a:t>
            </a:r>
            <a:r>
              <a:rPr lang="en-US" altLang="ko-KR" sz="1200" dirty="0"/>
              <a:t>, UI </a:t>
            </a:r>
            <a:r>
              <a:rPr lang="ko-KR" altLang="en-US" sz="1200" dirty="0"/>
              <a:t>가독성 등 실질적인 유저 편의성 관점의 검증을 수행했습니다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E71791-2351-EA74-743F-C4C4585FC242}"/>
              </a:ext>
            </a:extLst>
          </p:cNvPr>
          <p:cNvSpPr/>
          <p:nvPr/>
        </p:nvSpPr>
        <p:spPr>
          <a:xfrm>
            <a:off x="2034282" y="3585490"/>
            <a:ext cx="4490604" cy="821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9CEB95-DFD7-1D0E-9F04-FA9C0AC36EE7}"/>
              </a:ext>
            </a:extLst>
          </p:cNvPr>
          <p:cNvSpPr/>
          <p:nvPr/>
        </p:nvSpPr>
        <p:spPr>
          <a:xfrm>
            <a:off x="1393526" y="2082884"/>
            <a:ext cx="5131360" cy="1050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C689DC-4CBD-67C3-08DF-2079F437EA92}"/>
              </a:ext>
            </a:extLst>
          </p:cNvPr>
          <p:cNvSpPr/>
          <p:nvPr/>
        </p:nvSpPr>
        <p:spPr>
          <a:xfrm>
            <a:off x="1393526" y="5203513"/>
            <a:ext cx="5131360" cy="529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9CD67B41-7CA6-1B51-ACC7-FAFDD228F94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585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/>
              <a:t>시스템 정밀 검증 및 대규모 수치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D278CA-EB61-A11C-8083-850028A8E6B1}"/>
              </a:ext>
            </a:extLst>
          </p:cNvPr>
          <p:cNvSpPr txBox="1">
            <a:spLocks/>
          </p:cNvSpPr>
          <p:nvPr/>
        </p:nvSpPr>
        <p:spPr>
          <a:xfrm>
            <a:off x="0" y="585824"/>
            <a:ext cx="7695344" cy="338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"</a:t>
            </a:r>
            <a:r>
              <a:rPr lang="ko-KR" altLang="en-US" sz="1800" dirty="0"/>
              <a:t>복합 로직 분석과 </a:t>
            </a:r>
            <a:r>
              <a:rPr lang="en-US" altLang="ko-KR" sz="1800" dirty="0"/>
              <a:t>342</a:t>
            </a:r>
            <a:r>
              <a:rPr lang="ko-KR" altLang="en-US" sz="1800" dirty="0"/>
              <a:t>건의 수치 전수 검증으로 시스템 안정성 확보</a:t>
            </a:r>
            <a:r>
              <a:rPr lang="en-US" altLang="ko-KR" sz="1800" dirty="0"/>
              <a:t>" </a:t>
            </a:r>
          </a:p>
        </p:txBody>
      </p:sp>
    </p:spTree>
    <p:extLst>
      <p:ext uri="{BB962C8B-B14F-4D97-AF65-F5344CB8AC3E}">
        <p14:creationId xmlns:p14="http://schemas.microsoft.com/office/powerpoint/2010/main" val="331930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2ADD71-96CF-29F1-F877-20D64DA399EF}"/>
              </a:ext>
            </a:extLst>
          </p:cNvPr>
          <p:cNvSpPr/>
          <p:nvPr/>
        </p:nvSpPr>
        <p:spPr>
          <a:xfrm>
            <a:off x="361308" y="1225239"/>
            <a:ext cx="6296346" cy="475288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979BBC-93F4-CF6C-4FB3-53BE1383B76C}"/>
              </a:ext>
            </a:extLst>
          </p:cNvPr>
          <p:cNvSpPr txBox="1"/>
          <p:nvPr/>
        </p:nvSpPr>
        <p:spPr>
          <a:xfrm>
            <a:off x="7006119" y="1524189"/>
            <a:ext cx="48245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End-to-End </a:t>
            </a:r>
            <a:r>
              <a:rPr lang="ko-KR" altLang="en-US" sz="1200" dirty="0"/>
              <a:t>라이브 </a:t>
            </a:r>
            <a:r>
              <a:rPr lang="en-US" altLang="ko-KR" sz="1200" dirty="0"/>
              <a:t>QA </a:t>
            </a:r>
            <a:r>
              <a:rPr lang="ko-KR" altLang="en-US" sz="1200" dirty="0"/>
              <a:t>리딩</a:t>
            </a:r>
          </a:p>
          <a:p>
            <a:r>
              <a:rPr lang="ko-KR" altLang="en-US" sz="1200" dirty="0"/>
              <a:t>프로세스 고도화</a:t>
            </a:r>
            <a:r>
              <a:rPr lang="en-US" altLang="ko-KR" sz="1200" dirty="0"/>
              <a:t>: </a:t>
            </a:r>
            <a:r>
              <a:rPr lang="ko-KR" altLang="en-US" sz="1200" dirty="0"/>
              <a:t>업데이트 스펙 분석부터 사후 분석까지 이어지는 전 과정의 </a:t>
            </a:r>
            <a:r>
              <a:rPr lang="en-US" altLang="ko-KR" sz="1200" dirty="0"/>
              <a:t>QA </a:t>
            </a:r>
            <a:r>
              <a:rPr lang="ko-KR" altLang="en-US" sz="1200" dirty="0"/>
              <a:t>사이클을 직접 운영합니다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일정 및 진척도 관리</a:t>
            </a:r>
            <a:r>
              <a:rPr lang="en-US" altLang="ko-KR" sz="1200" dirty="0"/>
              <a:t>: </a:t>
            </a:r>
            <a:r>
              <a:rPr lang="en-US" altLang="ko-KR" sz="1200" b="1" dirty="0"/>
              <a:t>Jira</a:t>
            </a:r>
            <a:r>
              <a:rPr lang="ko-KR" altLang="en-US" sz="1200" dirty="0"/>
              <a:t>를 활용하여 프로젝트 일정을 조율하고</a:t>
            </a:r>
            <a:r>
              <a:rPr lang="en-US" altLang="ko-KR" sz="1200" dirty="0"/>
              <a:t>, </a:t>
            </a:r>
            <a:r>
              <a:rPr lang="ko-KR" altLang="en-US" sz="1200" dirty="0"/>
              <a:t>외주 인력의 검수 현황을 실시간으로 모니터링하여 병목 현상을 해소합니다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 QA </a:t>
            </a:r>
            <a:r>
              <a:rPr lang="ko-KR" altLang="en-US" sz="1200" dirty="0"/>
              <a:t>인프라 고도화 및 데이터 검수</a:t>
            </a:r>
          </a:p>
          <a:p>
            <a:r>
              <a:rPr lang="ko-KR" altLang="en-US" sz="1200" dirty="0"/>
              <a:t>빌드 관리</a:t>
            </a:r>
            <a:r>
              <a:rPr lang="en-US" altLang="ko-KR" sz="1200" dirty="0"/>
              <a:t>: </a:t>
            </a:r>
            <a:r>
              <a:rPr lang="en-US" altLang="ko-KR" sz="1200" b="1" dirty="0"/>
              <a:t>Jenkins</a:t>
            </a:r>
            <a:r>
              <a:rPr lang="ko-KR" altLang="en-US" sz="1200" dirty="0"/>
              <a:t>를 활용하여 </a:t>
            </a:r>
            <a:r>
              <a:rPr lang="en-US" altLang="ko-KR" sz="1200" dirty="0"/>
              <a:t>QA </a:t>
            </a:r>
            <a:r>
              <a:rPr lang="ko-KR" altLang="en-US" sz="1200" dirty="0"/>
              <a:t>빌드 배포 및 </a:t>
            </a:r>
            <a:r>
              <a:rPr lang="en-US" altLang="ko-KR" sz="1200" dirty="0"/>
              <a:t>DLC(</a:t>
            </a:r>
            <a:r>
              <a:rPr lang="ko-KR" altLang="en-US" sz="1200" dirty="0"/>
              <a:t>데이터</a:t>
            </a:r>
            <a:r>
              <a:rPr lang="en-US" altLang="ko-KR" sz="1200" dirty="0"/>
              <a:t>) </a:t>
            </a:r>
            <a:r>
              <a:rPr lang="ko-KR" altLang="en-US" sz="1200" dirty="0"/>
              <a:t>적용 프로세스를 통해 테스트 환경의 최신성을 상시 유지합니다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사전 예방 프로세스</a:t>
            </a:r>
            <a:r>
              <a:rPr lang="en-US" altLang="ko-KR" sz="1200" dirty="0"/>
              <a:t>: SVN </a:t>
            </a:r>
            <a:r>
              <a:rPr lang="ko-KR" altLang="en-US" sz="1200" dirty="0" err="1"/>
              <a:t>커밋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머지</a:t>
            </a:r>
            <a:r>
              <a:rPr lang="ko-KR" altLang="en-US" sz="1200" dirty="0"/>
              <a:t> 이력 추적을 통한 데이터 </a:t>
            </a:r>
            <a:r>
              <a:rPr lang="ko-KR" altLang="en-US" sz="1200" dirty="0" err="1"/>
              <a:t>변경점</a:t>
            </a:r>
            <a:r>
              <a:rPr lang="ko-KR" altLang="en-US" sz="1200" dirty="0"/>
              <a:t> 분석 및 </a:t>
            </a:r>
            <a:r>
              <a:rPr lang="en-US" altLang="ko-KR" sz="1200" b="1" dirty="0"/>
              <a:t>Excel/SQL </a:t>
            </a:r>
            <a:r>
              <a:rPr lang="ko-KR" altLang="en-US" sz="1200" dirty="0"/>
              <a:t>기반 데이터 검수 프로세스를 도입하여 원인 파악 시간을 단축하고 이슈를 사전에 차단합니다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지속 가능한 품질 개선 </a:t>
            </a:r>
            <a:endParaRPr lang="en-US" altLang="ko-KR" sz="1200" dirty="0"/>
          </a:p>
          <a:p>
            <a:r>
              <a:rPr lang="ko-KR" altLang="en-US" sz="1200" dirty="0"/>
              <a:t>재발 방지 대책 수립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포스트모템을</a:t>
            </a:r>
            <a:r>
              <a:rPr lang="ko-KR" altLang="en-US" sz="1200" dirty="0"/>
              <a:t> 정례화하여 발생한 이슈의 근본 원인을 분석하고 실질적인 재발 방지책을 수립합니다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무결성 기반 리스크 관리</a:t>
            </a:r>
            <a:r>
              <a:rPr lang="en-US" altLang="ko-KR" sz="1200" dirty="0"/>
              <a:t>: </a:t>
            </a:r>
            <a:r>
              <a:rPr lang="ko-KR" altLang="en-US" sz="1200" dirty="0"/>
              <a:t>데이터 구조 분석을 통해 잠재적 리스크를 식별하고 품질 지표를 상향 </a:t>
            </a:r>
            <a:r>
              <a:rPr lang="ko-KR" altLang="en-US" sz="1200" dirty="0" err="1"/>
              <a:t>평준화합니다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53243A9E-85D4-F515-AEAF-233D4038A0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585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/>
              <a:t>라이브 서비스 안정성 극대화를 위한 </a:t>
            </a:r>
            <a:r>
              <a:rPr lang="en-US" altLang="ko-KR" sz="2400" dirty="0"/>
              <a:t>QA </a:t>
            </a:r>
            <a:r>
              <a:rPr lang="ko-KR" altLang="en-US" sz="2400" dirty="0"/>
              <a:t>프로세스 운영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A56B9A-6DE7-02AB-4823-2FCF4A5DDBE8}"/>
              </a:ext>
            </a:extLst>
          </p:cNvPr>
          <p:cNvSpPr txBox="1">
            <a:spLocks/>
          </p:cNvSpPr>
          <p:nvPr/>
        </p:nvSpPr>
        <p:spPr>
          <a:xfrm>
            <a:off x="0" y="585824"/>
            <a:ext cx="7695344" cy="3388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"</a:t>
            </a:r>
            <a:r>
              <a:rPr lang="ko-KR" altLang="en-US" sz="1800" dirty="0"/>
              <a:t>체계적인 프로세스 정립으로 라이브 리스크를 최소화하고 검수 효율을 극대화합니다</a:t>
            </a:r>
            <a:r>
              <a:rPr lang="en-US" altLang="ko-KR" sz="1800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2556711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66AA-1336-E496-BEFD-4CFB86B61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5C4FC-EA18-156D-BB54-56F73416B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761850-A3E2-CC2F-8EFA-775D8077FE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신장섭</a:t>
            </a:r>
            <a:endParaRPr lang="en-US" altLang="ko-KR" dirty="0"/>
          </a:p>
          <a:p>
            <a:r>
              <a:rPr lang="en-US" altLang="ko-KR" dirty="0"/>
              <a:t>010 6607 3471</a:t>
            </a:r>
          </a:p>
          <a:p>
            <a:r>
              <a:rPr lang="en-US" altLang="ko-KR" dirty="0"/>
              <a:t>seobi5632@gmail.com</a:t>
            </a:r>
          </a:p>
          <a:p>
            <a:r>
              <a:rPr lang="en-US" altLang="ko-KR" dirty="0">
                <a:hlinkClick r:id="rId3"/>
              </a:rPr>
              <a:t>https://github.com/seobi5632/Portfolio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528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680</Words>
  <Application>Microsoft Office PowerPoint</Application>
  <PresentationFormat>와이드스크린</PresentationFormat>
  <Paragraphs>68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Aptos</vt:lpstr>
      <vt:lpstr>Aptos Display</vt:lpstr>
      <vt:lpstr>Arial</vt:lpstr>
      <vt:lpstr>Office Theme</vt:lpstr>
      <vt:lpstr>PORTFOLIO</vt:lpstr>
      <vt:lpstr>핵심 직무 역량 (Core Competency)</vt:lpstr>
      <vt:lpstr>PowerPoint 프레젠테이션</vt:lpstr>
      <vt:lpstr>PowerPoint 프레젠테이션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장섭 신</dc:creator>
  <cp:lastModifiedBy>장섭 신</cp:lastModifiedBy>
  <cp:revision>8</cp:revision>
  <dcterms:created xsi:type="dcterms:W3CDTF">2025-12-21T16:47:34Z</dcterms:created>
  <dcterms:modified xsi:type="dcterms:W3CDTF">2026-01-11T19:06:22Z</dcterms:modified>
</cp:coreProperties>
</file>